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64" r:id="rId1"/>
  </p:sldMasterIdLst>
  <p:notesMasterIdLst>
    <p:notesMasterId r:id="rId16"/>
  </p:notesMasterIdLst>
  <p:sldIdLst>
    <p:sldId id="258" r:id="rId2"/>
    <p:sldId id="259" r:id="rId3"/>
    <p:sldId id="275" r:id="rId4"/>
    <p:sldId id="276" r:id="rId5"/>
    <p:sldId id="295" r:id="rId6"/>
    <p:sldId id="297" r:id="rId7"/>
    <p:sldId id="298" r:id="rId8"/>
    <p:sldId id="296" r:id="rId9"/>
    <p:sldId id="294" r:id="rId10"/>
    <p:sldId id="293" r:id="rId11"/>
    <p:sldId id="292" r:id="rId12"/>
    <p:sldId id="267" r:id="rId13"/>
    <p:sldId id="291" r:id="rId14"/>
    <p:sldId id="290" r:id="rId15"/>
  </p:sldIdLst>
  <p:sldSz cx="12192000" cy="6858000"/>
  <p:notesSz cx="6858000" cy="9144000"/>
  <p:embeddedFontLst>
    <p:embeddedFont>
      <p:font typeface="Montserrat" panose="00000500000000000000" pitchFamily="2" charset="-52"/>
      <p:regular r:id="rId17"/>
      <p:bold r:id="rId18"/>
      <p:italic r:id="rId19"/>
      <p:boldItalic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d_string" initials="s" lastIdx="1" clrIdx="0">
    <p:extLst>
      <p:ext uri="{19B8F6BF-5375-455C-9EA6-DF929625EA0E}">
        <p15:presenceInfo xmlns:p15="http://schemas.microsoft.com/office/powerpoint/2012/main" userId="std_stri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  <a:srgbClr val="FDFDFD"/>
    <a:srgbClr val="F8F8F8"/>
    <a:srgbClr val="F2F2F2"/>
    <a:srgbClr val="00BBEE"/>
    <a:srgbClr val="E46C2A"/>
    <a:srgbClr val="FF7300"/>
    <a:srgbClr val="0055BB"/>
    <a:srgbClr val="0061AF"/>
    <a:srgbClr val="8F9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58" autoAdjust="0"/>
  </p:normalViewPr>
  <p:slideViewPr>
    <p:cSldViewPr snapToGrid="0" showGuides="1">
      <p:cViewPr varScale="1">
        <p:scale>
          <a:sx n="99" d="100"/>
          <a:sy n="99" d="100"/>
        </p:scale>
        <p:origin x="912" y="9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08195-CE74-4F71-958C-F1AC339AEDE2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A6789-72C7-4F40-AA28-2049E91646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249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8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2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4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0270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250"/>
            <a:ext cx="5886994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75" r:id="rId6"/>
    <p:sldLayoutId id="2147483682" r:id="rId7"/>
    <p:sldLayoutId id="2147483681" r:id="rId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1"/>
          </p:nvPr>
        </p:nvSpPr>
        <p:spPr>
          <a:xfrm>
            <a:off x="560194" y="6083857"/>
            <a:ext cx="2612774" cy="432446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 защиты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.06.2026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2"/>
          </p:nvPr>
        </p:nvSpPr>
        <p:spPr>
          <a:xfrm>
            <a:off x="560194" y="2567226"/>
            <a:ext cx="11451293" cy="1077218"/>
          </a:xfrm>
        </p:spPr>
        <p:txBody>
          <a:bodyPr/>
          <a:lstStyle/>
          <a:p>
            <a:r>
              <a:rPr lang="ru-RU" sz="28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Тема ВКР: «Методика автоматической трансляции программного кода между языками с сохранением семантики безопасности»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560194" y="4048541"/>
            <a:ext cx="6808272" cy="1077218"/>
          </a:xfrm>
        </p:spPr>
        <p:txBody>
          <a:bodyPr/>
          <a:lstStyle/>
          <a:p>
            <a:r>
              <a:rPr lang="ru-RU" sz="18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ФИО студента: Ушаков Андрей Вячеславович</a:t>
            </a:r>
          </a:p>
          <a:p>
            <a:r>
              <a:rPr lang="ru-RU" sz="18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10.04.01 - Информационная безопасность</a:t>
            </a:r>
          </a:p>
          <a:p>
            <a:r>
              <a:rPr lang="ru-RU" sz="1800" dirty="0">
                <a:solidFill>
                  <a:srgbClr val="0A0A0A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Программа: Безопасность информационных систем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7D5EACF-7929-4F98-921C-9DB62AA82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</p:spPr>
        <p:txBody>
          <a:bodyPr/>
          <a:lstStyle/>
          <a:p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Актуальность темы и проблематика исследования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6C77F299-00BD-EA06-B624-D02101B3AB70}"/>
              </a:ext>
            </a:extLst>
          </p:cNvPr>
          <p:cNvSpPr txBox="1">
            <a:spLocks/>
          </p:cNvSpPr>
          <p:nvPr/>
        </p:nvSpPr>
        <p:spPr>
          <a:xfrm>
            <a:off x="376990" y="1318015"/>
            <a:ext cx="108976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трансляции код может потерять защитные свойства исходного языка и кода.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Текст 6">
            <a:extLst>
              <a:ext uri="{FF2B5EF4-FFF2-40B4-BE49-F238E27FC236}">
                <a16:creationId xmlns:a16="http://schemas.microsoft.com/office/drawing/2014/main" id="{D430DF67-26C8-B6E0-9CCD-1DDC549F732B}"/>
              </a:ext>
            </a:extLst>
          </p:cNvPr>
          <p:cNvSpPr txBox="1">
            <a:spLocks/>
          </p:cNvSpPr>
          <p:nvPr/>
        </p:nvSpPr>
        <p:spPr>
          <a:xfrm>
            <a:off x="376990" y="4809015"/>
            <a:ext cx="5719010" cy="14619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Разрыв в существующих подходах: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подходы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compilation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validation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compilation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в основном контролируют функциональную корректность, компиляцию или уязвимости после трансляции, но не дают прикладного механизма сравнения защитных свойств до и после трансляции высокоуровневого кода.</a:t>
            </a:r>
          </a:p>
        </p:txBody>
      </p:sp>
      <p:sp>
        <p:nvSpPr>
          <p:cNvPr id="3" name="Текст 6">
            <a:extLst>
              <a:ext uri="{FF2B5EF4-FFF2-40B4-BE49-F238E27FC236}">
                <a16:creationId xmlns:a16="http://schemas.microsoft.com/office/drawing/2014/main" id="{3FD49C02-8167-99E6-B71E-EE1F6EF1E0CD}"/>
              </a:ext>
            </a:extLst>
          </p:cNvPr>
          <p:cNvSpPr txBox="1">
            <a:spLocks/>
          </p:cNvSpPr>
          <p:nvPr/>
        </p:nvSpPr>
        <p:spPr>
          <a:xfrm>
            <a:off x="376990" y="1807356"/>
            <a:ext cx="5561797" cy="147732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возникает проблема?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миграция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legacy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-кода;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 библиотек под разные языки;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импортозамещение платформ;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LLM для трансляции кода.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441FAA5-BE42-0008-6056-8F6FAFD30685}"/>
              </a:ext>
            </a:extLst>
          </p:cNvPr>
          <p:cNvSpPr/>
          <p:nvPr/>
        </p:nvSpPr>
        <p:spPr>
          <a:xfrm>
            <a:off x="376990" y="3573317"/>
            <a:ext cx="4099053" cy="119349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 риск</a:t>
            </a: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трансляции код может функционально работать, но потерять защитные свойства исходного языка и кода.</a:t>
            </a:r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A50022E0-16D7-45E6-9F83-48863FF5B8FC}"/>
              </a:ext>
            </a:extLst>
          </p:cNvPr>
          <p:cNvSpPr txBox="1">
            <a:spLocks/>
          </p:cNvSpPr>
          <p:nvPr/>
        </p:nvSpPr>
        <p:spPr>
          <a:xfrm>
            <a:off x="6336632" y="1807356"/>
            <a:ext cx="5561797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потерь при трансляции с языка C# на язык Python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8B035CC1-0435-DFCD-D4A2-64D64A4FA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510604"/>
              </p:ext>
            </p:extLst>
          </p:nvPr>
        </p:nvGraphicFramePr>
        <p:xfrm>
          <a:off x="6336633" y="2301240"/>
          <a:ext cx="5561796" cy="1950720"/>
        </p:xfrm>
        <a:graphic>
          <a:graphicData uri="http://schemas.openxmlformats.org/drawingml/2006/table">
            <a:tbl>
              <a:tblPr/>
              <a:tblGrid>
                <a:gridCol w="2780898">
                  <a:extLst>
                    <a:ext uri="{9D8B030D-6E8A-4147-A177-3AD203B41FA5}">
                      <a16:colId xmlns:a16="http://schemas.microsoft.com/office/drawing/2014/main" val="3115101136"/>
                    </a:ext>
                  </a:extLst>
                </a:gridCol>
                <a:gridCol w="2780898">
                  <a:extLst>
                    <a:ext uri="{9D8B030D-6E8A-4147-A177-3AD203B41FA5}">
                      <a16:colId xmlns:a16="http://schemas.microsoft.com/office/drawing/2014/main" val="348431381"/>
                    </a:ext>
                  </a:extLst>
                </a:gridCol>
              </a:tblGrid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Гарантия в C#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Что происходит в Python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680351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Статическая типизация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Требуется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runtime-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компенсация (из-за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duck typing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5134125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Перегрузка методов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Нужна диспетчеризация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958183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Инкапсуляция, модификаторы доступа 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private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protecte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Полноценной поддержки 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6253945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readonly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поля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Прямого аналога 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5179599"/>
                  </a:ext>
                </a:extLst>
              </a:tr>
            </a:tbl>
          </a:graphicData>
        </a:graphic>
      </p:graphicFrame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1822452-AD9D-0028-63F4-5474BEEDC3A4}"/>
              </a:ext>
            </a:extLst>
          </p:cNvPr>
          <p:cNvSpPr/>
          <p:nvPr/>
        </p:nvSpPr>
        <p:spPr>
          <a:xfrm>
            <a:off x="6640079" y="4809015"/>
            <a:ext cx="5258350" cy="115864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dirty="0" err="1">
                <a:solidFill>
                  <a:srgbClr val="FFFFFF"/>
                </a:solidFill>
              </a:rPr>
              <a:t>Проблема</a:t>
            </a:r>
            <a:r>
              <a:rPr lang="en-US" sz="1400" b="1" dirty="0">
                <a:solidFill>
                  <a:srgbClr val="FFFFFF"/>
                </a:solidFill>
              </a:rPr>
              <a:t> ВКР: </a:t>
            </a:r>
            <a:r>
              <a:rPr lang="en-US" sz="1400" b="1" dirty="0" err="1">
                <a:solidFill>
                  <a:srgbClr val="FFFFFF"/>
                </a:solidFill>
              </a:rPr>
              <a:t>нужен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en-US" sz="1400" b="1" dirty="0" err="1">
                <a:solidFill>
                  <a:srgbClr val="FFFFFF"/>
                </a:solidFill>
              </a:rPr>
              <a:t>контрольный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en-US" sz="1400" b="1" dirty="0" err="1">
                <a:solidFill>
                  <a:srgbClr val="FFFFFF"/>
                </a:solidFill>
              </a:rPr>
              <a:t>слой</a:t>
            </a:r>
            <a:r>
              <a:rPr lang="en-US" sz="1400" b="1" dirty="0">
                <a:solidFill>
                  <a:srgbClr val="FFFFFF"/>
                </a:solidFill>
              </a:rPr>
              <a:t>, </a:t>
            </a:r>
            <a:r>
              <a:rPr lang="en-US" sz="1400" b="1" dirty="0" err="1">
                <a:solidFill>
                  <a:srgbClr val="FFFFFF"/>
                </a:solidFill>
              </a:rPr>
              <a:t>который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en-US" sz="1400" b="1" dirty="0" err="1">
                <a:solidFill>
                  <a:srgbClr val="FFFFFF"/>
                </a:solidFill>
              </a:rPr>
              <a:t>показывает</a:t>
            </a:r>
            <a:r>
              <a:rPr lang="en-US" sz="1400" b="1" dirty="0">
                <a:solidFill>
                  <a:srgbClr val="FFFFFF"/>
                </a:solidFill>
              </a:rPr>
              <a:t>, </a:t>
            </a:r>
            <a:r>
              <a:rPr lang="en-US" sz="1400" b="1" dirty="0" err="1">
                <a:solidFill>
                  <a:srgbClr val="FFFFFF"/>
                </a:solidFill>
              </a:rPr>
              <a:t>какие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en-US" sz="1400" b="1" dirty="0" err="1">
                <a:solidFill>
                  <a:srgbClr val="FFFFFF"/>
                </a:solidFill>
              </a:rPr>
              <a:t>инварианты</a:t>
            </a:r>
            <a:r>
              <a:rPr lang="ru-RU" sz="1400" b="1" dirty="0">
                <a:solidFill>
                  <a:srgbClr val="FFFFFF"/>
                </a:solidFill>
              </a:rPr>
              <a:t> безопасности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en-US" sz="1400" b="1" dirty="0" err="1">
                <a:solidFill>
                  <a:srgbClr val="FFFFFF"/>
                </a:solidFill>
              </a:rPr>
              <a:t>сохраняются</a:t>
            </a:r>
            <a:r>
              <a:rPr lang="en-US" sz="1400" b="1" dirty="0">
                <a:solidFill>
                  <a:srgbClr val="FFFFFF"/>
                </a:solidFill>
              </a:rPr>
              <a:t>, </a:t>
            </a:r>
            <a:r>
              <a:rPr lang="en-US" sz="1400" b="1" dirty="0" err="1">
                <a:solidFill>
                  <a:srgbClr val="FFFFFF"/>
                </a:solidFill>
              </a:rPr>
              <a:t>компенсируются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en-US" sz="1400" b="1" dirty="0" err="1">
                <a:solidFill>
                  <a:srgbClr val="FFFFFF"/>
                </a:solidFill>
              </a:rPr>
              <a:t>или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en-US" sz="1400" b="1" dirty="0" err="1">
                <a:solidFill>
                  <a:srgbClr val="FFFFFF"/>
                </a:solidFill>
              </a:rPr>
              <a:t>теряются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en-US" sz="1400" b="1" dirty="0" err="1">
                <a:solidFill>
                  <a:srgbClr val="FFFFFF"/>
                </a:solidFill>
              </a:rPr>
              <a:t>при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en-US" sz="1400" b="1" dirty="0" err="1">
                <a:solidFill>
                  <a:srgbClr val="FFFFFF"/>
                </a:solidFill>
              </a:rPr>
              <a:t>трансляции</a:t>
            </a:r>
            <a:r>
              <a:rPr lang="en-US" sz="1400" b="1" dirty="0">
                <a:solidFill>
                  <a:srgbClr val="FFFFFF"/>
                </a:solidFill>
              </a:rPr>
              <a:t>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83851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F6D3-01F2-C186-A543-687B008C4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FC0F546-68C3-E648-105A-CC6DA268D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</p:spPr>
        <p:txBody>
          <a:bodyPr/>
          <a:lstStyle/>
          <a:p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D29B12C2-1658-A593-4E62-3312333423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9571" y="1360773"/>
            <a:ext cx="10715069" cy="738664"/>
          </a:xfrm>
        </p:spPr>
        <p:txBody>
          <a:bodyPr/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— повысить управляемость и предсказуемость изменений инвариантов безопасности программного кода при трансляции между языками за счёт разработки и экспериментальной проверки методики автоматической трансляции с контролируемым сохранением семантики безопасности.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6">
            <a:extLst>
              <a:ext uri="{FF2B5EF4-FFF2-40B4-BE49-F238E27FC236}">
                <a16:creationId xmlns:a16="http://schemas.microsoft.com/office/drawing/2014/main" id="{3E9CA130-2F3A-D29D-0AE3-549B301452A0}"/>
              </a:ext>
            </a:extLst>
          </p:cNvPr>
          <p:cNvSpPr txBox="1">
            <a:spLocks/>
          </p:cNvSpPr>
          <p:nvPr/>
        </p:nvSpPr>
        <p:spPr>
          <a:xfrm>
            <a:off x="559571" y="2115559"/>
            <a:ext cx="10715069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 достижения цели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1AC1D25-4293-FA0C-D516-06B2871EB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930962"/>
              </p:ext>
            </p:extLst>
          </p:nvPr>
        </p:nvGraphicFramePr>
        <p:xfrm>
          <a:off x="559572" y="2470333"/>
          <a:ext cx="10715068" cy="4053840"/>
        </p:xfrm>
        <a:graphic>
          <a:graphicData uri="http://schemas.openxmlformats.org/drawingml/2006/table">
            <a:tbl>
              <a:tblPr/>
              <a:tblGrid>
                <a:gridCol w="5357534">
                  <a:extLst>
                    <a:ext uri="{9D8B030D-6E8A-4147-A177-3AD203B41FA5}">
                      <a16:colId xmlns:a16="http://schemas.microsoft.com/office/drawing/2014/main" val="3115101136"/>
                    </a:ext>
                  </a:extLst>
                </a:gridCol>
                <a:gridCol w="5357534">
                  <a:extLst>
                    <a:ext uri="{9D8B030D-6E8A-4147-A177-3AD203B41FA5}">
                      <a16:colId xmlns:a16="http://schemas.microsoft.com/office/drawing/2014/main" val="348431381"/>
                    </a:ext>
                  </a:extLst>
                </a:gridCol>
              </a:tblGrid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Цель считается достигнутой, если…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Как проверяется / подтверждается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680351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Разработана модель инвариантов безопасности и отпечатка безопасности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Дано определение инварианта, отпечатка безопасности и состояний инвариантов: поддерживается полностью / частично / не поддерживается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255095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Инварианты классифицированы по характеру изменения при трансляции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Введены классы L1–L4: сохраняются, компенсируются, теряются как допустимое/недопустимое ослабление, появляются в целевом коде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637030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Определены условия успешной трансляции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Проверяются функциональность, поведение, публичный API, сохранение L1, компенсация L2 и допустимость потерь L3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187648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Разработана методика контролируемой трансляции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Представлен процесс: исходный код → отпечаток до → L1–L4 → решение по L3 → 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симплификация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 трансляция и L2-компенсации → отпечаток после → сравнение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0965646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Реализован исследовательский прототип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Созданы 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симплификатор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C#-кода и транслятор с языка C# на язык Python с компенсациями для L2-инвариантов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062005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Проведена экспериментальная проверка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Методика сравнена с ручной трансляцией и LLM-трансляцией по функциональности, API, L1, L2, L3 и предсказуемости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58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591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3B54C-25A9-50C2-ACC7-9FB4298C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076ADA0-C10C-CA64-918A-789524080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адачи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BC496A5-16A9-7A73-637D-55CD3B2940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8350" y="1665617"/>
            <a:ext cx="10715069" cy="1985159"/>
          </a:xfrm>
        </p:spPr>
        <p:txBody>
          <a:bodyPr/>
          <a:lstStyle/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модели защитных инвариантов программного кода и отпечатка безопасности.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классификации изменений защитных инвариантов при трансляции между языками.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условий сохранения семантики безопасности и успешности трансляции.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методики автоматической трансляции с контролем отпечатка безопасности и допустимых ослаблений.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механизма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симплификации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исходного кода и реализация прототипа трансляции с языка C# на язык Python.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экспериментальной проверки методики на примере трансляции с языка C# на язык Python, включая сравнение с ручной трансляцией и трансляцией с помощью большой языковой модели (LLM).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74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26253-750F-CCA6-75AB-7ADAB3DDF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E39190C-05C1-7F6D-1DAA-ED601CE4D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Модель: инвариант безопасности и отпечаток безопасности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864D7BEE-9557-89E3-FC2A-CDD4538AA42C}"/>
              </a:ext>
            </a:extLst>
          </p:cNvPr>
          <p:cNvSpPr txBox="1">
            <a:spLocks/>
          </p:cNvSpPr>
          <p:nvPr/>
        </p:nvSpPr>
        <p:spPr>
          <a:xfrm>
            <a:off x="235104" y="1305785"/>
            <a:ext cx="5860896" cy="9541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Инвариант безопасности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свойство программного кода, языка или среды выполнения, нарушение которого может привести к ослаблению гарантий безопасности, появлению уязвимости или некорректному использованию программного интерфейса.</a:t>
            </a: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F1B85D02-F9A1-53FC-7409-7BED8BDA5B43}"/>
              </a:ext>
            </a:extLst>
          </p:cNvPr>
          <p:cNvSpPr txBox="1">
            <a:spLocks/>
          </p:cNvSpPr>
          <p:nvPr/>
        </p:nvSpPr>
        <p:spPr>
          <a:xfrm>
            <a:off x="302481" y="2397948"/>
            <a:ext cx="5793519" cy="2062103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входных аргументов;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типобезопасность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инкапсуляция;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readonly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-семантика;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корректная обработка исключений;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корректное управление ресурсами.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678979C4-519B-C5A9-3056-1B9DFD33DEDB}"/>
              </a:ext>
            </a:extLst>
          </p:cNvPr>
          <p:cNvSpPr txBox="1">
            <a:spLocks/>
          </p:cNvSpPr>
          <p:nvPr/>
        </p:nvSpPr>
        <p:spPr>
          <a:xfrm>
            <a:off x="302481" y="4656473"/>
            <a:ext cx="5793519" cy="1769715"/>
          </a:xfrm>
          <a:prstGeom prst="rect">
            <a:avLst/>
          </a:prstGeom>
          <a:ln w="6350">
            <a:solidFill>
              <a:schemeClr val="tx1"/>
            </a:solidFill>
          </a:ln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Источники инвариантов: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спецификация языка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CWE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ГОСТ Р 56939 / ГОСТ Р 58412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БДУ ФСТЭК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 использования кода</a:t>
            </a:r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86BF39A5-1EAC-7FF2-FDDD-F6C1F79EA1E1}"/>
              </a:ext>
            </a:extLst>
          </p:cNvPr>
          <p:cNvSpPr txBox="1">
            <a:spLocks/>
          </p:cNvSpPr>
          <p:nvPr/>
        </p:nvSpPr>
        <p:spPr>
          <a:xfrm>
            <a:off x="6266047" y="1305785"/>
            <a:ext cx="5611528" cy="9541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Отпечаток безопасности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структурированный набор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инвариантов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безопасности кодовой базы или отдельной сущности кода с указанием состояния каждого инварианта: поддерживается полностью, поддерживается частично или не поддерживается.</a:t>
            </a: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B443F174-8866-D6C1-CBB6-CD2CECB69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61006"/>
              </p:ext>
            </p:extLst>
          </p:nvPr>
        </p:nvGraphicFramePr>
        <p:xfrm>
          <a:off x="6390238" y="2662103"/>
          <a:ext cx="5487336" cy="1950720"/>
        </p:xfrm>
        <a:graphic>
          <a:graphicData uri="http://schemas.openxmlformats.org/drawingml/2006/table">
            <a:tbl>
              <a:tblPr/>
              <a:tblGrid>
                <a:gridCol w="1829112">
                  <a:extLst>
                    <a:ext uri="{9D8B030D-6E8A-4147-A177-3AD203B41FA5}">
                      <a16:colId xmlns:a16="http://schemas.microsoft.com/office/drawing/2014/main" val="3115101136"/>
                    </a:ext>
                  </a:extLst>
                </a:gridCol>
                <a:gridCol w="1829112">
                  <a:extLst>
                    <a:ext uri="{9D8B030D-6E8A-4147-A177-3AD203B41FA5}">
                      <a16:colId xmlns:a16="http://schemas.microsoft.com/office/drawing/2014/main" val="348431381"/>
                    </a:ext>
                  </a:extLst>
                </a:gridCol>
                <a:gridCol w="1829112">
                  <a:extLst>
                    <a:ext uri="{9D8B030D-6E8A-4147-A177-3AD203B41FA5}">
                      <a16:colId xmlns:a16="http://schemas.microsoft.com/office/drawing/2014/main" val="1338460799"/>
                    </a:ext>
                  </a:extLst>
                </a:gridCol>
              </a:tblGrid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Инвариант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Источник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 в исходном коде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680351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Проверка входных аргументов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 / CWE / CERT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Поддерживается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1198150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Типобезопасность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Спецификация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C#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Поддерживается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5629088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Инкапсуляция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Спецификация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C#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Поддерживается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885083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readonly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семантика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Спецификация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C#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Поддерживается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632289"/>
                  </a:ext>
                </a:extLst>
              </a:tr>
            </a:tbl>
          </a:graphicData>
        </a:graphic>
      </p:graphicFrame>
      <p:sp>
        <p:nvSpPr>
          <p:cNvPr id="16" name="Текст 6">
            <a:extLst>
              <a:ext uri="{FF2B5EF4-FFF2-40B4-BE49-F238E27FC236}">
                <a16:creationId xmlns:a16="http://schemas.microsoft.com/office/drawing/2014/main" id="{4EF56473-E28A-1947-6F6D-27CE5BAC3B8F}"/>
              </a:ext>
            </a:extLst>
          </p:cNvPr>
          <p:cNvSpPr txBox="1">
            <a:spLocks/>
          </p:cNvSpPr>
          <p:nvPr/>
        </p:nvSpPr>
        <p:spPr>
          <a:xfrm>
            <a:off x="6266046" y="2259892"/>
            <a:ext cx="5611528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инвариантов безопасности</a:t>
            </a:r>
          </a:p>
        </p:txBody>
      </p:sp>
    </p:spTree>
    <p:extLst>
      <p:ext uri="{BB962C8B-B14F-4D97-AF65-F5344CB8AC3E}">
        <p14:creationId xmlns:p14="http://schemas.microsoft.com/office/powerpoint/2010/main" val="2221822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17411-2A4E-F8FA-656C-F737C9F73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7657677-9761-B162-D9DB-F5AB1544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L1–L4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010D51E-11AC-152B-5ED4-9F6B1D680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036480"/>
              </p:ext>
            </p:extLst>
          </p:nvPr>
        </p:nvGraphicFramePr>
        <p:xfrm>
          <a:off x="350450" y="1390855"/>
          <a:ext cx="11479000" cy="2164080"/>
        </p:xfrm>
        <a:graphic>
          <a:graphicData uri="http://schemas.openxmlformats.org/drawingml/2006/table">
            <a:tbl>
              <a:tblPr/>
              <a:tblGrid>
                <a:gridCol w="1449474">
                  <a:extLst>
                    <a:ext uri="{9D8B030D-6E8A-4147-A177-3AD203B41FA5}">
                      <a16:colId xmlns:a16="http://schemas.microsoft.com/office/drawing/2014/main" val="3115101136"/>
                    </a:ext>
                  </a:extLst>
                </a:gridCol>
                <a:gridCol w="3185962">
                  <a:extLst>
                    <a:ext uri="{9D8B030D-6E8A-4147-A177-3AD203B41FA5}">
                      <a16:colId xmlns:a16="http://schemas.microsoft.com/office/drawing/2014/main" val="34843138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3095158427"/>
                    </a:ext>
                  </a:extLst>
                </a:gridCol>
                <a:gridCol w="3551724">
                  <a:extLst>
                    <a:ext uri="{9D8B030D-6E8A-4147-A177-3AD203B41FA5}">
                      <a16:colId xmlns:a16="http://schemas.microsoft.com/office/drawing/2014/main" val="3015516446"/>
                    </a:ext>
                  </a:extLst>
                </a:gridCol>
              </a:tblGrid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Класс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Что происходит при трансляции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Действие методики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Пример  (для трансляции с C# на Python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680351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сохраняется автоматически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контролировать сохранение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проверки входных аргументов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991900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L2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напрямую не поддерживается, но может быть сымитировано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сгенерировать компенсацию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типобезопасность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перегрузки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936294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L3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сохраняется или крайне трудно сымитировать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зафиксировать допустимое или недопустимое ослабление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инкапсуляция, модификаторы доступа, 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readonly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поля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48562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L4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появляется в целевом коде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зафиксировать улучшение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безопасность строк при трансляции с C на Python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424076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87022F6-4F4B-5BC3-C7EC-E3D8FBABABC2}"/>
              </a:ext>
            </a:extLst>
          </p:cNvPr>
          <p:cNvSpPr/>
          <p:nvPr/>
        </p:nvSpPr>
        <p:spPr>
          <a:xfrm>
            <a:off x="350450" y="3603031"/>
            <a:ext cx="11479000" cy="1104595"/>
          </a:xfrm>
          <a:prstGeom prst="rect">
            <a:avLst/>
          </a:prstGeom>
          <a:gradFill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</a:t>
            </a: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инвариантов безопасности зависит от пары исходный язык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целевой язык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Если для данного исходного языка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поменяется целевой язык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классификация инвариантов безопасности может быть другой. Так, например, для пары языков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C#➝Python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типобезопасность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имеет класс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модификаторы доступа и инкапсуляции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для пары языков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C#➝C++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типобезопасность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модификаторы доступа и инкапсуляция –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6BFCB22-A395-FD6F-E1EE-7DABAAFF410C}"/>
              </a:ext>
            </a:extLst>
          </p:cNvPr>
          <p:cNvSpPr/>
          <p:nvPr/>
        </p:nvSpPr>
        <p:spPr>
          <a:xfrm>
            <a:off x="356500" y="4834059"/>
            <a:ext cx="11479000" cy="96219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</a:t>
            </a: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Инварианты безопасности L3 не являются ошибкой транслятора, а отражают ограничение целевого языка: они не могут быть полноценно воспроизведены штатными средствами целевого языка, как эквивалентные гарантии исходного языка. Например, инкапсуляция и модификаторы доступа при трансляции кода с языка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язык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405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E217E-F78F-5A78-848B-045FDC3D3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00E4840-B463-553B-AB06-C7FF45666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Формальная модель контроля семантики безопасности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DEC13B8-4BCD-538E-856F-A496BE6ABD02}"/>
              </a:ext>
            </a:extLst>
          </p:cNvPr>
          <p:cNvSpPr txBox="1">
            <a:spLocks/>
          </p:cNvSpPr>
          <p:nvPr/>
        </p:nvSpPr>
        <p:spPr>
          <a:xfrm>
            <a:off x="235104" y="1305785"/>
            <a:ext cx="5860896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программы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AB157E8-0FDE-7664-9B00-4EBF2E647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68" y="1664090"/>
            <a:ext cx="5228004" cy="1764910"/>
          </a:xfrm>
          <a:prstGeom prst="rect">
            <a:avLst/>
          </a:prstGeom>
        </p:spPr>
      </p:pic>
      <p:sp>
        <p:nvSpPr>
          <p:cNvPr id="10" name="Текст 6">
            <a:extLst>
              <a:ext uri="{FF2B5EF4-FFF2-40B4-BE49-F238E27FC236}">
                <a16:creationId xmlns:a16="http://schemas.microsoft.com/office/drawing/2014/main" id="{591E69E3-772B-720B-E4A9-49DC7F4DDB07}"/>
              </a:ext>
            </a:extLst>
          </p:cNvPr>
          <p:cNvSpPr txBox="1">
            <a:spLocks/>
          </p:cNvSpPr>
          <p:nvPr/>
        </p:nvSpPr>
        <p:spPr>
          <a:xfrm>
            <a:off x="5897225" y="1305784"/>
            <a:ext cx="5860896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защитного инварианта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7837941-6F90-69BC-2430-D7EC33D14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68" y="3521559"/>
            <a:ext cx="5179502" cy="154132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8A97584-8A36-9C44-24CB-56CD886B5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225" y="1613561"/>
            <a:ext cx="4904243" cy="2887101"/>
          </a:xfrm>
          <a:prstGeom prst="rect">
            <a:avLst/>
          </a:prstGeom>
        </p:spPr>
      </p:pic>
      <p:sp>
        <p:nvSpPr>
          <p:cNvPr id="15" name="Текст 6">
            <a:extLst>
              <a:ext uri="{FF2B5EF4-FFF2-40B4-BE49-F238E27FC236}">
                <a16:creationId xmlns:a16="http://schemas.microsoft.com/office/drawing/2014/main" id="{A3B1CFC7-7BDF-DC86-62BE-BD97EE61DF0C}"/>
              </a:ext>
            </a:extLst>
          </p:cNvPr>
          <p:cNvSpPr txBox="1">
            <a:spLocks/>
          </p:cNvSpPr>
          <p:nvPr/>
        </p:nvSpPr>
        <p:spPr>
          <a:xfrm>
            <a:off x="235104" y="5275752"/>
            <a:ext cx="5860896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инвариантов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E6F67F7-DE72-068A-56B4-3524320A9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168" y="5650328"/>
            <a:ext cx="2414517" cy="524447"/>
          </a:xfrm>
          <a:prstGeom prst="rect">
            <a:avLst/>
          </a:prstGeom>
        </p:spPr>
      </p:pic>
      <p:sp>
        <p:nvSpPr>
          <p:cNvPr id="18" name="Текст 6">
            <a:extLst>
              <a:ext uri="{FF2B5EF4-FFF2-40B4-BE49-F238E27FC236}">
                <a16:creationId xmlns:a16="http://schemas.microsoft.com/office/drawing/2014/main" id="{A8EC9EAF-E650-D332-E7B3-627D47BA88F0}"/>
              </a:ext>
            </a:extLst>
          </p:cNvPr>
          <p:cNvSpPr txBox="1">
            <a:spLocks/>
          </p:cNvSpPr>
          <p:nvPr/>
        </p:nvSpPr>
        <p:spPr>
          <a:xfrm>
            <a:off x="5897225" y="4577821"/>
            <a:ext cx="5860896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условие успешности по безопасности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Текст 6">
            <a:extLst>
              <a:ext uri="{FF2B5EF4-FFF2-40B4-BE49-F238E27FC236}">
                <a16:creationId xmlns:a16="http://schemas.microsoft.com/office/drawing/2014/main" id="{C948DF21-27D4-A3C5-3D77-D6D16FB1617E}"/>
              </a:ext>
            </a:extLst>
          </p:cNvPr>
          <p:cNvSpPr txBox="1">
            <a:spLocks/>
          </p:cNvSpPr>
          <p:nvPr/>
        </p:nvSpPr>
        <p:spPr>
          <a:xfrm>
            <a:off x="5897225" y="5352911"/>
            <a:ext cx="5860896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Метрика допустимого ослабления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57BCEE8-4B8C-4FE7-2C14-624B1E8BDF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225" y="5736314"/>
            <a:ext cx="4782217" cy="35247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C807FD8-329C-D4DD-5B48-A12DA081B5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225" y="4962757"/>
            <a:ext cx="4582164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20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0CCAA-691E-1862-1C09-10D498FDC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EEE0BB7-54A6-3B3F-63A5-4D174D9D2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Условия сохранения семантики безопасности и функциональности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8E1FF9-7D55-637B-37EE-EDC80A1F9D83}"/>
              </a:ext>
            </a:extLst>
          </p:cNvPr>
          <p:cNvSpPr txBox="1"/>
          <p:nvPr/>
        </p:nvSpPr>
        <p:spPr>
          <a:xfrm>
            <a:off x="445501" y="1346358"/>
            <a:ext cx="113009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Семантика безопасности — это часть поведения и структуры программы, связанная с инвариантами безопасности, которые должны сохраняться, компенсироваться или контролируемо ослабляться при трансформации кода во время всего жизненного цикла программы.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580B177-2EBD-8988-4098-2DD12D571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276965"/>
              </p:ext>
            </p:extLst>
          </p:nvPr>
        </p:nvGraphicFramePr>
        <p:xfrm>
          <a:off x="445501" y="2006873"/>
          <a:ext cx="7110331" cy="3931920"/>
        </p:xfrm>
        <a:graphic>
          <a:graphicData uri="http://schemas.openxmlformats.org/drawingml/2006/table">
            <a:tbl>
              <a:tblPr/>
              <a:tblGrid>
                <a:gridCol w="2014350">
                  <a:extLst>
                    <a:ext uri="{9D8B030D-6E8A-4147-A177-3AD203B41FA5}">
                      <a16:colId xmlns:a16="http://schemas.microsoft.com/office/drawing/2014/main" val="3115101136"/>
                    </a:ext>
                  </a:extLst>
                </a:gridCol>
                <a:gridCol w="2198776">
                  <a:extLst>
                    <a:ext uri="{9D8B030D-6E8A-4147-A177-3AD203B41FA5}">
                      <a16:colId xmlns:a16="http://schemas.microsoft.com/office/drawing/2014/main" val="348431381"/>
                    </a:ext>
                  </a:extLst>
                </a:gridCol>
                <a:gridCol w="2897205">
                  <a:extLst>
                    <a:ext uri="{9D8B030D-6E8A-4147-A177-3AD203B41FA5}">
                      <a16:colId xmlns:a16="http://schemas.microsoft.com/office/drawing/2014/main" val="1653682410"/>
                    </a:ext>
                  </a:extLst>
                </a:gridCol>
              </a:tblGrid>
              <a:tr h="126238"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Проверяемый аспект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Условие успешности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Как проверяется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680351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Функциональность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 работы не меняется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Одинаковые тестовые сценарии (для C# и Python)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618283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Поведение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Одинаковые выходные значения и исключения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Сравнение выводов, исключений, последовательности вызовов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745481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Публичный интерфейс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Публичный API сохраняется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Сопоставление классов, методов, сигнатур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834602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Инварианты L1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Должны сохраниться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Сравнение отпечатка безопасности до и после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094909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Инварианты L2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Должны быть созданы компенсации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Наличие дополнительного сгенерированного кода: проверки и т.д.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337725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Инварианты L3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Допустимо теряются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Заранее фиксируются как допустимое ослабление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9469286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Инварианты L4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Могут появиться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Фиксируются как улучшение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4377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43170AA-2141-B9CA-B6CF-F5A16B0908B8}"/>
              </a:ext>
            </a:extLst>
          </p:cNvPr>
          <p:cNvSpPr txBox="1"/>
          <p:nvPr/>
        </p:nvSpPr>
        <p:spPr>
          <a:xfrm>
            <a:off x="7657583" y="2006873"/>
            <a:ext cx="417186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функциональности через: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ожидаемые сценарии использования;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тестовые входные данные;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результатов выполнения;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исключений;</a:t>
            </a: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Публичные интерфейсы до и после трансляции сравниваются отдельно, т.к. могут быть определены разрешенные изменения</a:t>
            </a:r>
          </a:p>
        </p:txBody>
      </p:sp>
    </p:spTree>
    <p:extLst>
      <p:ext uri="{BB962C8B-B14F-4D97-AF65-F5344CB8AC3E}">
        <p14:creationId xmlns:p14="http://schemas.microsoft.com/office/powerpoint/2010/main" val="773037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CF25C-260D-6735-E492-178B21FE7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58D7417-3E94-97AB-093C-E97B3CA8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Методика контролируемой трансляции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AA7598E-6D8D-6E43-5EF0-FC05163F455E}"/>
              </a:ext>
            </a:extLst>
          </p:cNvPr>
          <p:cNvSpPr/>
          <p:nvPr/>
        </p:nvSpPr>
        <p:spPr>
          <a:xfrm>
            <a:off x="266094" y="1671483"/>
            <a:ext cx="1189702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Исходный код и требования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F43FDDCB-D77B-E9B6-6B0F-4E98556A59BC}"/>
              </a:ext>
            </a:extLst>
          </p:cNvPr>
          <p:cNvSpPr/>
          <p:nvPr/>
        </p:nvSpPr>
        <p:spPr>
          <a:xfrm>
            <a:off x="1873512" y="1671483"/>
            <a:ext cx="1353332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Отпечаток безопасности до (инварианты)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F327B20-5F79-81C2-0DA7-70C9DCC2E468}"/>
              </a:ext>
            </a:extLst>
          </p:cNvPr>
          <p:cNvSpPr/>
          <p:nvPr/>
        </p:nvSpPr>
        <p:spPr>
          <a:xfrm>
            <a:off x="3565177" y="1671483"/>
            <a:ext cx="1353332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L1-L4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47828069-B8EC-1533-D142-A901FEB87037}"/>
              </a:ext>
            </a:extLst>
          </p:cNvPr>
          <p:cNvSpPr/>
          <p:nvPr/>
        </p:nvSpPr>
        <p:spPr>
          <a:xfrm>
            <a:off x="5336225" y="1671483"/>
            <a:ext cx="1273949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по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допустимо (да/нет)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1BD546A-47E8-1B25-5BCB-AEE0E8E9DEBC}"/>
              </a:ext>
            </a:extLst>
          </p:cNvPr>
          <p:cNvSpPr/>
          <p:nvPr/>
        </p:nvSpPr>
        <p:spPr>
          <a:xfrm>
            <a:off x="7027890" y="1671483"/>
            <a:ext cx="1355714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Симплификация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67BB023-6AFD-3872-0668-23A8132EE59E}"/>
              </a:ext>
            </a:extLst>
          </p:cNvPr>
          <p:cNvSpPr/>
          <p:nvPr/>
        </p:nvSpPr>
        <p:spPr>
          <a:xfrm>
            <a:off x="8801320" y="1671483"/>
            <a:ext cx="1273949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Трансляция + генерация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E345D43D-BC74-5085-7CE4-B75135186212}"/>
              </a:ext>
            </a:extLst>
          </p:cNvPr>
          <p:cNvSpPr/>
          <p:nvPr/>
        </p:nvSpPr>
        <p:spPr>
          <a:xfrm>
            <a:off x="10492985" y="1671483"/>
            <a:ext cx="1353332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Отпечаток безопасности после (инварианты)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7DE32E0-45B3-13AC-B6B5-A4A5A251A1DE}"/>
              </a:ext>
            </a:extLst>
          </p:cNvPr>
          <p:cNvSpPr/>
          <p:nvPr/>
        </p:nvSpPr>
        <p:spPr>
          <a:xfrm>
            <a:off x="10492985" y="2971800"/>
            <a:ext cx="1353332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отпечатков: совпадают (да/нет)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F68551C0-FD9A-591C-B83E-0A9AD1B4CB19}"/>
              </a:ext>
            </a:extLst>
          </p:cNvPr>
          <p:cNvSpPr/>
          <p:nvPr/>
        </p:nvSpPr>
        <p:spPr>
          <a:xfrm>
            <a:off x="10492984" y="4272117"/>
            <a:ext cx="1423087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функционала (поведения): совпадает (да/нет)</a:t>
            </a:r>
          </a:p>
        </p:txBody>
      </p:sp>
      <p:pic>
        <p:nvPicPr>
          <p:cNvPr id="14" name="Рисунок 13" descr="Маркеры-галочки">
            <a:extLst>
              <a:ext uri="{FF2B5EF4-FFF2-40B4-BE49-F238E27FC236}">
                <a16:creationId xmlns:a16="http://schemas.microsoft.com/office/drawing/2014/main" id="{D9F86E47-6B70-9F7E-FC41-2192B52BD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2451" y="5445493"/>
            <a:ext cx="914400" cy="914400"/>
          </a:xfrm>
          <a:prstGeom prst="rect">
            <a:avLst/>
          </a:prstGeom>
        </p:spPr>
      </p:pic>
      <p:pic>
        <p:nvPicPr>
          <p:cNvPr id="16" name="Рисунок 15" descr="Закрыть">
            <a:extLst>
              <a:ext uri="{FF2B5EF4-FFF2-40B4-BE49-F238E27FC236}">
                <a16:creationId xmlns:a16="http://schemas.microsoft.com/office/drawing/2014/main" id="{AC428EE1-168C-6276-FD90-E279C6F4F1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15999" y="3003082"/>
            <a:ext cx="914400" cy="914400"/>
          </a:xfrm>
          <a:prstGeom prst="rect">
            <a:avLst/>
          </a:prstGeom>
        </p:spPr>
      </p:pic>
      <p:pic>
        <p:nvPicPr>
          <p:cNvPr id="17" name="Рисунок 16" descr="Закрыть">
            <a:extLst>
              <a:ext uri="{FF2B5EF4-FFF2-40B4-BE49-F238E27FC236}">
                <a16:creationId xmlns:a16="http://schemas.microsoft.com/office/drawing/2014/main" id="{863AEF66-881C-5819-9C1D-2EE542AC66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1094" y="3003082"/>
            <a:ext cx="914400" cy="914400"/>
          </a:xfrm>
          <a:prstGeom prst="rect">
            <a:avLst/>
          </a:prstGeom>
        </p:spPr>
      </p:pic>
      <p:pic>
        <p:nvPicPr>
          <p:cNvPr id="18" name="Рисунок 17" descr="Закрыть">
            <a:extLst>
              <a:ext uri="{FF2B5EF4-FFF2-40B4-BE49-F238E27FC236}">
                <a16:creationId xmlns:a16="http://schemas.microsoft.com/office/drawing/2014/main" id="{D8A8E050-12E4-8C62-81F9-366068ECCC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1094" y="4272117"/>
            <a:ext cx="914400" cy="914400"/>
          </a:xfrm>
          <a:prstGeom prst="rect">
            <a:avLst/>
          </a:prstGeom>
        </p:spPr>
      </p:pic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56A4A876-179B-705D-7FC3-BBB624129C1E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1455796" y="2128683"/>
            <a:ext cx="41771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E1F600F0-880B-39C1-46E8-E6C696346704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3226844" y="2128683"/>
            <a:ext cx="33833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23F54EA5-E548-7030-ABE4-03BAEBA17E7A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918509" y="2128683"/>
            <a:ext cx="41771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1EE399C8-280D-C21D-2C37-C8F268E4203D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6610174" y="2128683"/>
            <a:ext cx="417716" cy="95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2032B5CD-7D23-1E15-BC3E-7394CFEF8AF8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8383604" y="2128683"/>
            <a:ext cx="41771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213945BB-5B58-21B8-040F-9D9D0DD46E2B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0075269" y="2128683"/>
            <a:ext cx="41771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CFE03CCB-0322-2B0F-A703-4869A8CC30CC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1169651" y="2585883"/>
            <a:ext cx="0" cy="3859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A9CED51B-D2BE-064B-3DCC-0CF8E74C351F}"/>
              </a:ext>
            </a:extLst>
          </p:cNvPr>
          <p:cNvCxnSpPr>
            <a:cxnSpLocks/>
          </p:cNvCxnSpPr>
          <p:nvPr/>
        </p:nvCxnSpPr>
        <p:spPr>
          <a:xfrm>
            <a:off x="11162767" y="3886200"/>
            <a:ext cx="0" cy="3859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6FAED28F-3735-D271-D6E2-7AABC4AB154D}"/>
              </a:ext>
            </a:extLst>
          </p:cNvPr>
          <p:cNvCxnSpPr>
            <a:cxnSpLocks/>
          </p:cNvCxnSpPr>
          <p:nvPr/>
        </p:nvCxnSpPr>
        <p:spPr>
          <a:xfrm>
            <a:off x="11139374" y="5186517"/>
            <a:ext cx="0" cy="4827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43E1D1A7-E565-C7D9-69D1-288B8F6295D5}"/>
              </a:ext>
            </a:extLst>
          </p:cNvPr>
          <p:cNvCxnSpPr>
            <a:cxnSpLocks/>
          </p:cNvCxnSpPr>
          <p:nvPr/>
        </p:nvCxnSpPr>
        <p:spPr>
          <a:xfrm>
            <a:off x="5959431" y="2585882"/>
            <a:ext cx="0" cy="56157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5E311C03-B7B2-845F-76E7-616A01CA255C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9783149" y="3429000"/>
            <a:ext cx="70983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269A17F3-C884-5623-6EE7-8F118A4821C5}"/>
              </a:ext>
            </a:extLst>
          </p:cNvPr>
          <p:cNvCxnSpPr>
            <a:cxnSpLocks/>
          </p:cNvCxnSpPr>
          <p:nvPr/>
        </p:nvCxnSpPr>
        <p:spPr>
          <a:xfrm flipH="1">
            <a:off x="9783149" y="4739744"/>
            <a:ext cx="70983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82D1AB3-B89C-3849-FE0C-A47DBC8400C3}"/>
              </a:ext>
            </a:extLst>
          </p:cNvPr>
          <p:cNvSpPr txBox="1"/>
          <p:nvPr/>
        </p:nvSpPr>
        <p:spPr>
          <a:xfrm>
            <a:off x="345683" y="3429000"/>
            <a:ext cx="4099056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успеха: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Функциональность (поведение) сохранена;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Публичный интерфейс сохранён;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сохранены;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L2 созданы компенсации;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 потеряны, только если это допустимо.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F93A9DC5-3060-489C-71E3-0B1873718A27}"/>
              </a:ext>
            </a:extLst>
          </p:cNvPr>
          <p:cNvSpPr/>
          <p:nvPr/>
        </p:nvSpPr>
        <p:spPr>
          <a:xfrm>
            <a:off x="345683" y="4920820"/>
            <a:ext cx="4099053" cy="119349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</a:t>
            </a: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Методика не обещает “сохранить всё”. Она делает потери прогнозируемыми, управляемыми и проверяемыми.</a:t>
            </a:r>
          </a:p>
        </p:txBody>
      </p:sp>
    </p:spTree>
    <p:extLst>
      <p:ext uri="{BB962C8B-B14F-4D97-AF65-F5344CB8AC3E}">
        <p14:creationId xmlns:p14="http://schemas.microsoft.com/office/powerpoint/2010/main" val="3680180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BAE88-987E-01E5-4B57-50771B316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7A842DB-7DA4-1EFA-C72D-ED1ABF8F4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Симплификация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исходного кода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D779B-D796-AADF-F4E8-657932A15997}"/>
              </a:ext>
            </a:extLst>
          </p:cNvPr>
          <p:cNvSpPr txBox="1"/>
          <p:nvPr/>
        </p:nvSpPr>
        <p:spPr>
          <a:xfrm>
            <a:off x="559570" y="1451824"/>
            <a:ext cx="62640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характеристики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Roslyn (The .NET Compiler Platform SDK)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разных типов узлов AST равно 241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разных значений перечисления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SyntaxKind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определенных в библиотеке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Roslyn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равно 561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итог – потенциально транслятору приходится учитывать до 561 вариантов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SyntaxKind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6A89B1-784A-5E2A-2B35-4247B61BAE91}"/>
              </a:ext>
            </a:extLst>
          </p:cNvPr>
          <p:cNvSpPr txBox="1"/>
          <p:nvPr/>
        </p:nvSpPr>
        <p:spPr>
          <a:xfrm>
            <a:off x="7574253" y="1450847"/>
            <a:ext cx="3362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Цикл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языке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D1987FB-03C4-F14F-0288-53E3F45F3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782" y="1822526"/>
            <a:ext cx="3372321" cy="6763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C35C81B-9992-C7F6-7826-0BBC925BC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253" y="3489178"/>
            <a:ext cx="3362794" cy="9335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A385B27-5C37-1ACE-B0D9-F3F44EB51F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312" y="5476943"/>
            <a:ext cx="3372320" cy="6763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F96E6A-8F95-35E8-A8CA-952C6DAC56A5}"/>
              </a:ext>
            </a:extLst>
          </p:cNvPr>
          <p:cNvSpPr txBox="1"/>
          <p:nvPr/>
        </p:nvSpPr>
        <p:spPr>
          <a:xfrm>
            <a:off x="7583782" y="3146060"/>
            <a:ext cx="3362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Цикл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языке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2B1A85-1DB2-27F1-B0FF-7A5790A694B1}"/>
              </a:ext>
            </a:extLst>
          </p:cNvPr>
          <p:cNvSpPr txBox="1"/>
          <p:nvPr/>
        </p:nvSpPr>
        <p:spPr>
          <a:xfrm>
            <a:off x="7583782" y="5086039"/>
            <a:ext cx="3362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Цикл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языке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D5502F-55FB-FFFD-ACCA-768975B78C52}"/>
              </a:ext>
            </a:extLst>
          </p:cNvPr>
          <p:cNvSpPr txBox="1"/>
          <p:nvPr/>
        </p:nvSpPr>
        <p:spPr>
          <a:xfrm>
            <a:off x="559567" y="4285820"/>
            <a:ext cx="62640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 - если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симплификатор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реализован корректно, то: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симплификации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могут быть спроектированы таким образом, чтобы сохранять семантику безопасности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уменьшается вероятность ошибки/дефекта в трансляторе.</a:t>
            </a:r>
          </a:p>
        </p:txBody>
      </p:sp>
      <p:sp>
        <p:nvSpPr>
          <p:cNvPr id="8" name="Стрелка: вниз 7">
            <a:extLst>
              <a:ext uri="{FF2B5EF4-FFF2-40B4-BE49-F238E27FC236}">
                <a16:creationId xmlns:a16="http://schemas.microsoft.com/office/drawing/2014/main" id="{EF1A8307-AB8A-A67F-1D58-5640B21E05B4}"/>
              </a:ext>
            </a:extLst>
          </p:cNvPr>
          <p:cNvSpPr/>
          <p:nvPr/>
        </p:nvSpPr>
        <p:spPr>
          <a:xfrm>
            <a:off x="9013333" y="2592948"/>
            <a:ext cx="484632" cy="44304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5D4E524F-E0B0-ED6C-4060-A018DB8FC69F}"/>
              </a:ext>
            </a:extLst>
          </p:cNvPr>
          <p:cNvSpPr/>
          <p:nvPr/>
        </p:nvSpPr>
        <p:spPr>
          <a:xfrm>
            <a:off x="9022862" y="4545022"/>
            <a:ext cx="484632" cy="44304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AC67959-864E-28B4-7FD2-D4779585B367}"/>
              </a:ext>
            </a:extLst>
          </p:cNvPr>
          <p:cNvSpPr/>
          <p:nvPr/>
        </p:nvSpPr>
        <p:spPr>
          <a:xfrm>
            <a:off x="559567" y="5327639"/>
            <a:ext cx="6264017" cy="9749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</a:t>
            </a:r>
          </a:p>
          <a:p>
            <a:pPr algn="just"/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Симплификация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является "украшением" кода. Это подготовительный этап, уменьшающий сложность транслятора и риск искажения защитных инвариантов.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B95D9C9-5197-DCCA-839F-842F4EFD1058}"/>
              </a:ext>
            </a:extLst>
          </p:cNvPr>
          <p:cNvSpPr/>
          <p:nvPr/>
        </p:nvSpPr>
        <p:spPr>
          <a:xfrm>
            <a:off x="559567" y="2966503"/>
            <a:ext cx="6264015" cy="11843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Идея: уменьшить число разных случаев, которые должен корректно обработать транслятор.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Меньше вариантов AST → меньше риск дефекта транслятора → выше предсказуемость результата</a:t>
            </a:r>
          </a:p>
        </p:txBody>
      </p:sp>
    </p:spTree>
    <p:extLst>
      <p:ext uri="{BB962C8B-B14F-4D97-AF65-F5344CB8AC3E}">
        <p14:creationId xmlns:p14="http://schemas.microsoft.com/office/powerpoint/2010/main" val="623877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746E8-C9A0-16BC-DAFE-6EE44B2AB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FD78EFC-F412-4687-71BC-30615E76C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Реализация прототипа для трансляции с языка C# на язык Python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Текст 6">
            <a:extLst>
              <a:ext uri="{FF2B5EF4-FFF2-40B4-BE49-F238E27FC236}">
                <a16:creationId xmlns:a16="http://schemas.microsoft.com/office/drawing/2014/main" id="{A455EDA4-11CD-D531-848A-77D903AF06B6}"/>
              </a:ext>
            </a:extLst>
          </p:cNvPr>
          <p:cNvSpPr txBox="1">
            <a:spLocks/>
          </p:cNvSpPr>
          <p:nvPr/>
        </p:nvSpPr>
        <p:spPr>
          <a:xfrm>
            <a:off x="282006" y="5489379"/>
            <a:ext cx="2086253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 репозиторий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симплификатора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Текст 6">
            <a:extLst>
              <a:ext uri="{FF2B5EF4-FFF2-40B4-BE49-F238E27FC236}">
                <a16:creationId xmlns:a16="http://schemas.microsoft.com/office/drawing/2014/main" id="{A5BCFF5E-C3A9-8F46-F8AD-1272D4281998}"/>
              </a:ext>
            </a:extLst>
          </p:cNvPr>
          <p:cNvSpPr txBox="1">
            <a:spLocks/>
          </p:cNvSpPr>
          <p:nvPr/>
        </p:nvSpPr>
        <p:spPr>
          <a:xfrm>
            <a:off x="3551267" y="5557216"/>
            <a:ext cx="2086253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 репозиторий транслятора: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AD8B5E-7F7E-1632-15CA-F20F1FE0DA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358" y="5556221"/>
            <a:ext cx="1128392" cy="112839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7D8E1C4-C8EA-74F8-487F-8AA7AE1D4E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614" y="5516240"/>
            <a:ext cx="1128392" cy="1128392"/>
          </a:xfrm>
          <a:prstGeom prst="rect">
            <a:avLst/>
          </a:prstGeom>
        </p:spPr>
      </p:pic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CBCCCD94-7863-66D8-0F17-DB5765172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909745"/>
              </p:ext>
            </p:extLst>
          </p:nvPr>
        </p:nvGraphicFramePr>
        <p:xfrm>
          <a:off x="340827" y="3854923"/>
          <a:ext cx="5146544" cy="1341120"/>
        </p:xfrm>
        <a:graphic>
          <a:graphicData uri="http://schemas.openxmlformats.org/drawingml/2006/table">
            <a:tbl>
              <a:tblPr/>
              <a:tblGrid>
                <a:gridCol w="2573272">
                  <a:extLst>
                    <a:ext uri="{9D8B030D-6E8A-4147-A177-3AD203B41FA5}">
                      <a16:colId xmlns:a16="http://schemas.microsoft.com/office/drawing/2014/main" val="3115101136"/>
                    </a:ext>
                  </a:extLst>
                </a:gridCol>
                <a:gridCol w="2573272">
                  <a:extLst>
                    <a:ext uri="{9D8B030D-6E8A-4147-A177-3AD203B41FA5}">
                      <a16:colId xmlns:a16="http://schemas.microsoft.com/office/drawing/2014/main" val="348431381"/>
                    </a:ext>
                  </a:extLst>
                </a:gridCol>
              </a:tblGrid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Инвариант безопасности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Компенсация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680351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Потеря статической типизации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Проверки во время выполнения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892636"/>
                  </a:ext>
                </a:extLst>
              </a:tr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Перегрузка методов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dispatch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по числу и типам аргументов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665766"/>
                  </a:ext>
                </a:extLst>
              </a:tr>
            </a:tbl>
          </a:graphicData>
        </a:graphic>
      </p:graphicFrame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AC6FD86-4FA6-36B1-7600-8E403DADC5E2}"/>
              </a:ext>
            </a:extLst>
          </p:cNvPr>
          <p:cNvSpPr/>
          <p:nvPr/>
        </p:nvSpPr>
        <p:spPr>
          <a:xfrm>
            <a:off x="2372095" y="1519635"/>
            <a:ext cx="2154752" cy="14387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Симплификатор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nameof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initializer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out-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переменные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null-conditional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цикл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цикл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40813A2-7888-7593-63A3-3EDCD3C3ED74}"/>
              </a:ext>
            </a:extLst>
          </p:cNvPr>
          <p:cNvSpPr/>
          <p:nvPr/>
        </p:nvSpPr>
        <p:spPr>
          <a:xfrm>
            <a:off x="7260336" y="1517104"/>
            <a:ext cx="2154752" cy="14387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Транслятор: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Python-кода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согласование API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 именования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компенсации L2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B87E55D-116A-1FCC-3976-34EE89C1158C}"/>
              </a:ext>
            </a:extLst>
          </p:cNvPr>
          <p:cNvSpPr/>
          <p:nvPr/>
        </p:nvSpPr>
        <p:spPr>
          <a:xfrm>
            <a:off x="340827" y="1520552"/>
            <a:ext cx="1389650" cy="71936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Исходный код на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94EF096-725F-BB98-7028-774A6D67ED4A}"/>
              </a:ext>
            </a:extLst>
          </p:cNvPr>
          <p:cNvSpPr/>
          <p:nvPr/>
        </p:nvSpPr>
        <p:spPr>
          <a:xfrm>
            <a:off x="5085509" y="1517104"/>
            <a:ext cx="1574687" cy="71936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Упрощенный код на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B327E32-04C0-437B-ADF3-DDD46EA2210C}"/>
              </a:ext>
            </a:extLst>
          </p:cNvPr>
          <p:cNvSpPr/>
          <p:nvPr/>
        </p:nvSpPr>
        <p:spPr>
          <a:xfrm>
            <a:off x="10015228" y="1517104"/>
            <a:ext cx="1389650" cy="71936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на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9F1BCB8C-2985-1AFB-79D2-6D89772E371A}"/>
              </a:ext>
            </a:extLst>
          </p:cNvPr>
          <p:cNvSpPr/>
          <p:nvPr/>
        </p:nvSpPr>
        <p:spPr>
          <a:xfrm>
            <a:off x="1862550" y="1637919"/>
            <a:ext cx="441388" cy="48463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: вправо 11">
            <a:extLst>
              <a:ext uri="{FF2B5EF4-FFF2-40B4-BE49-F238E27FC236}">
                <a16:creationId xmlns:a16="http://schemas.microsoft.com/office/drawing/2014/main" id="{C3018828-D92A-1870-515F-E5FF49D84C20}"/>
              </a:ext>
            </a:extLst>
          </p:cNvPr>
          <p:cNvSpPr/>
          <p:nvPr/>
        </p:nvSpPr>
        <p:spPr>
          <a:xfrm>
            <a:off x="4564169" y="1634471"/>
            <a:ext cx="441388" cy="48463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A231C33C-1A7B-5C9A-F296-9FD3F21AFFEF}"/>
              </a:ext>
            </a:extLst>
          </p:cNvPr>
          <p:cNvSpPr/>
          <p:nvPr/>
        </p:nvSpPr>
        <p:spPr>
          <a:xfrm>
            <a:off x="6770006" y="1634471"/>
            <a:ext cx="441388" cy="48463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E2C06BCF-FB53-D9F9-8A32-8C432E9BC167}"/>
              </a:ext>
            </a:extLst>
          </p:cNvPr>
          <p:cNvSpPr/>
          <p:nvPr/>
        </p:nvSpPr>
        <p:spPr>
          <a:xfrm>
            <a:off x="9503495" y="1634471"/>
            <a:ext cx="441388" cy="48463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FB6B402B-A02B-EAD1-B311-E1D5343764A3}"/>
              </a:ext>
            </a:extLst>
          </p:cNvPr>
          <p:cNvSpPr txBox="1">
            <a:spLocks/>
          </p:cNvSpPr>
          <p:nvPr/>
        </p:nvSpPr>
        <p:spPr>
          <a:xfrm>
            <a:off x="335273" y="3362887"/>
            <a:ext cx="5146544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Компенсации для инвариантов безопасности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9B45F8B-939B-9DFE-CE2F-B9879D36B68F}"/>
              </a:ext>
            </a:extLst>
          </p:cNvPr>
          <p:cNvSpPr/>
          <p:nvPr/>
        </p:nvSpPr>
        <p:spPr>
          <a:xfrm>
            <a:off x="7265655" y="3362886"/>
            <a:ext cx="4475680" cy="215335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библиотеки адаптера в языке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имитирующей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.NET: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BCL (Base Class Library) содержится примерно 10000 - 15000 типов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ASP.NET Core содержится примерно 20000-30000 типов</a:t>
            </a: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такой библиотеки - достаточно трудоемкий процесс</a:t>
            </a:r>
          </a:p>
        </p:txBody>
      </p:sp>
    </p:spTree>
    <p:extLst>
      <p:ext uri="{BB962C8B-B14F-4D97-AF65-F5344CB8AC3E}">
        <p14:creationId xmlns:p14="http://schemas.microsoft.com/office/powerpoint/2010/main" val="2388564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8E8E6-63B5-4637-88D6-43F4568C4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Эксперимент: что проверялось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C33CD10-E900-5234-3D14-257E85AF7B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395" y="5453869"/>
            <a:ext cx="1114942" cy="1114942"/>
          </a:xfrm>
          <a:prstGeom prst="rect">
            <a:avLst/>
          </a:prstGeom>
        </p:spPr>
      </p:pic>
      <p:sp>
        <p:nvSpPr>
          <p:cNvPr id="10" name="Текст 6">
            <a:extLst>
              <a:ext uri="{FF2B5EF4-FFF2-40B4-BE49-F238E27FC236}">
                <a16:creationId xmlns:a16="http://schemas.microsoft.com/office/drawing/2014/main" id="{C70E9808-882A-A5B7-7EB9-9BA037B849E0}"/>
              </a:ext>
            </a:extLst>
          </p:cNvPr>
          <p:cNvSpPr txBox="1">
            <a:spLocks/>
          </p:cNvSpPr>
          <p:nvPr/>
        </p:nvSpPr>
        <p:spPr>
          <a:xfrm>
            <a:off x="9962740" y="5096621"/>
            <a:ext cx="2086253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Ссылка на репозиторий: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1E50174-1AD6-96CB-27CC-E5DF7C6763DB}"/>
              </a:ext>
            </a:extLst>
          </p:cNvPr>
          <p:cNvSpPr txBox="1">
            <a:spLocks/>
          </p:cNvSpPr>
          <p:nvPr/>
        </p:nvSpPr>
        <p:spPr>
          <a:xfrm>
            <a:off x="415194" y="1306779"/>
            <a:ext cx="5536428" cy="235449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эксперимента: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Модельный фрагмент C#-кода для графических примитивов: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Объектная модель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Проверки корректности данных;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Перегруженные конструкторы и методы добавления объектов;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readonly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поля;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Члены с модификаторами доступа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protected/private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строкового представления.</a:t>
            </a:r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141A8C2D-5530-A311-36A5-2F578FE5A5F3}"/>
              </a:ext>
            </a:extLst>
          </p:cNvPr>
          <p:cNvSpPr txBox="1">
            <a:spLocks/>
          </p:cNvSpPr>
          <p:nvPr/>
        </p:nvSpPr>
        <p:spPr>
          <a:xfrm>
            <a:off x="5951622" y="1353905"/>
            <a:ext cx="5689516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Сравниваемые подходы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6EC88D6-9DC8-5283-6F4D-687E8931D97A}"/>
              </a:ext>
            </a:extLst>
          </p:cNvPr>
          <p:cNvSpPr/>
          <p:nvPr/>
        </p:nvSpPr>
        <p:spPr>
          <a:xfrm>
            <a:off x="6096000" y="1909356"/>
            <a:ext cx="1788992" cy="6487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Трансляция по методике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37F6C7B-2B30-34D8-688C-8F57BA816134}"/>
              </a:ext>
            </a:extLst>
          </p:cNvPr>
          <p:cNvSpPr/>
          <p:nvPr/>
        </p:nvSpPr>
        <p:spPr>
          <a:xfrm>
            <a:off x="8029370" y="1909356"/>
            <a:ext cx="1788992" cy="6487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Ручная трансляция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CDCC416-634F-7D9E-50C8-DD953FA3395C}"/>
              </a:ext>
            </a:extLst>
          </p:cNvPr>
          <p:cNvSpPr/>
          <p:nvPr/>
        </p:nvSpPr>
        <p:spPr>
          <a:xfrm>
            <a:off x="9962740" y="1909356"/>
            <a:ext cx="1788992" cy="6487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Трансляция с помощью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3C3DF15F-4457-7354-6A7E-A444DF55DB62}"/>
              </a:ext>
            </a:extLst>
          </p:cNvPr>
          <p:cNvSpPr txBox="1">
            <a:spLocks/>
          </p:cNvSpPr>
          <p:nvPr/>
        </p:nvSpPr>
        <p:spPr>
          <a:xfrm>
            <a:off x="415194" y="3601167"/>
            <a:ext cx="5536428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Контролируемые инварианты безопасности</a:t>
            </a:r>
          </a:p>
        </p:txBody>
      </p: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528BD072-31CE-783E-CB8C-170C3FF83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307732"/>
              </p:ext>
            </p:extLst>
          </p:nvPr>
        </p:nvGraphicFramePr>
        <p:xfrm>
          <a:off x="415194" y="3908944"/>
          <a:ext cx="4994204" cy="2778292"/>
        </p:xfrm>
        <a:graphic>
          <a:graphicData uri="http://schemas.openxmlformats.org/drawingml/2006/table">
            <a:tbl>
              <a:tblPr/>
              <a:tblGrid>
                <a:gridCol w="3717191">
                  <a:extLst>
                    <a:ext uri="{9D8B030D-6E8A-4147-A177-3AD203B41FA5}">
                      <a16:colId xmlns:a16="http://schemas.microsoft.com/office/drawing/2014/main" val="3115101136"/>
                    </a:ext>
                  </a:extLst>
                </a:gridCol>
                <a:gridCol w="1277013">
                  <a:extLst>
                    <a:ext uri="{9D8B030D-6E8A-4147-A177-3AD203B41FA5}">
                      <a16:colId xmlns:a16="http://schemas.microsoft.com/office/drawing/2014/main" val="4158992552"/>
                    </a:ext>
                  </a:extLst>
                </a:gridCol>
              </a:tblGrid>
              <a:tr h="126238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Инвариант безопасности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Класс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680351"/>
                  </a:ext>
                </a:extLst>
              </a:tr>
              <a:tr h="353356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проверки входных аргументов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L1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216118"/>
                  </a:ext>
                </a:extLst>
              </a:tr>
              <a:tr h="353356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гарантия состояния при исключениях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L1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185917"/>
                  </a:ext>
                </a:extLst>
              </a:tr>
              <a:tr h="353356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абстрактные типы и методы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L1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626392"/>
                  </a:ext>
                </a:extLst>
              </a:tr>
              <a:tr h="353356">
                <a:tc>
                  <a:txBody>
                    <a:bodyPr/>
                    <a:lstStyle/>
                    <a:p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типобезопасность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155711"/>
                  </a:ext>
                </a:extLst>
              </a:tr>
              <a:tr h="353356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перегруженные методы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10817"/>
                  </a:ext>
                </a:extLst>
              </a:tr>
              <a:tr h="353356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инкапсуляция и модификаторы доступа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15385"/>
                  </a:ext>
                </a:extLst>
              </a:tr>
              <a:tr h="353356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readonly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поля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4959418"/>
                  </a:ext>
                </a:extLst>
              </a:tr>
            </a:tbl>
          </a:graphicData>
        </a:graphic>
      </p:graphicFrame>
      <p:sp>
        <p:nvSpPr>
          <p:cNvPr id="18" name="Текст 6">
            <a:extLst>
              <a:ext uri="{FF2B5EF4-FFF2-40B4-BE49-F238E27FC236}">
                <a16:creationId xmlns:a16="http://schemas.microsoft.com/office/drawing/2014/main" id="{2D918736-8F8E-23B5-2C4B-63F1C8555BAA}"/>
              </a:ext>
            </a:extLst>
          </p:cNvPr>
          <p:cNvSpPr txBox="1">
            <a:spLocks/>
          </p:cNvSpPr>
          <p:nvPr/>
        </p:nvSpPr>
        <p:spPr>
          <a:xfrm>
            <a:off x="5951622" y="2688577"/>
            <a:ext cx="5689516" cy="227754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Сохраняются создаваемые объекты;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Сохраняется поведение методов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GetRepresentation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Сохраняется порядок добавления шагов;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Сохраняются исключения при некорректных данных;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Сохраняется публичный интерфейс;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программ на C# и Python совпадают на тестовых сценариях.</a:t>
            </a:r>
          </a:p>
        </p:txBody>
      </p:sp>
    </p:spTree>
    <p:extLst>
      <p:ext uri="{BB962C8B-B14F-4D97-AF65-F5344CB8AC3E}">
        <p14:creationId xmlns:p14="http://schemas.microsoft.com/office/powerpoint/2010/main" val="1134200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D98FE-D657-80E0-E290-455474F9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86A8C-4FC3-2BB0-AD59-4BD1BDA0B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Результаты сравнения: чем методика лучше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3AD82002-2BB3-087E-F4C0-E0D8B6D83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929906"/>
              </p:ext>
            </p:extLst>
          </p:nvPr>
        </p:nvGraphicFramePr>
        <p:xfrm>
          <a:off x="331431" y="1388444"/>
          <a:ext cx="11546140" cy="3037182"/>
        </p:xfrm>
        <a:graphic>
          <a:graphicData uri="http://schemas.openxmlformats.org/drawingml/2006/table">
            <a:tbl>
              <a:tblPr/>
              <a:tblGrid>
                <a:gridCol w="2309228">
                  <a:extLst>
                    <a:ext uri="{9D8B030D-6E8A-4147-A177-3AD203B41FA5}">
                      <a16:colId xmlns:a16="http://schemas.microsoft.com/office/drawing/2014/main" val="944300391"/>
                    </a:ext>
                  </a:extLst>
                </a:gridCol>
                <a:gridCol w="1430827">
                  <a:extLst>
                    <a:ext uri="{9D8B030D-6E8A-4147-A177-3AD203B41FA5}">
                      <a16:colId xmlns:a16="http://schemas.microsoft.com/office/drawing/2014/main" val="3115101136"/>
                    </a:ext>
                  </a:extLst>
                </a:gridCol>
                <a:gridCol w="1501541">
                  <a:extLst>
                    <a:ext uri="{9D8B030D-6E8A-4147-A177-3AD203B41FA5}">
                      <a16:colId xmlns:a16="http://schemas.microsoft.com/office/drawing/2014/main" val="348431381"/>
                    </a:ext>
                  </a:extLst>
                </a:gridCol>
                <a:gridCol w="1511167">
                  <a:extLst>
                    <a:ext uri="{9D8B030D-6E8A-4147-A177-3AD203B41FA5}">
                      <a16:colId xmlns:a16="http://schemas.microsoft.com/office/drawing/2014/main" val="4158992552"/>
                    </a:ext>
                  </a:extLst>
                </a:gridCol>
                <a:gridCol w="4793377">
                  <a:extLst>
                    <a:ext uri="{9D8B030D-6E8A-4147-A177-3AD203B41FA5}">
                      <a16:colId xmlns:a16="http://schemas.microsoft.com/office/drawing/2014/main" val="2135102816"/>
                    </a:ext>
                  </a:extLst>
                </a:gridCol>
              </a:tblGrid>
              <a:tr h="321514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Методика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Ручная трансляция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трансляция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Вывод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680351"/>
                  </a:ext>
                </a:extLst>
              </a:tr>
              <a:tr h="321514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Функциональное поведение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 подходы могут сохранить функциональное поведение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772541"/>
                  </a:ext>
                </a:extLst>
              </a:tr>
              <a:tr h="321514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Публичный интерфейс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сохранен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изменен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изменен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Методика лучше контролирует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468038"/>
                  </a:ext>
                </a:extLst>
              </a:tr>
              <a:tr h="321514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Сохранено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L1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трансляция потеряла часть защитных свойств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678220"/>
                  </a:ext>
                </a:extLst>
              </a:tr>
              <a:tr h="3215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Создано компенсаций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L2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Только методика компенсирует потери языка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301819"/>
                  </a:ext>
                </a:extLst>
              </a:tr>
              <a:tr h="3215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Потеряно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L3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2/2</a:t>
                      </a:r>
                      <a:r>
                        <a:rPr lang="ru-RU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ru-RU" sz="1400" b="1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зафиксировано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2/2</a:t>
                      </a:r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неуправляемо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2/2</a:t>
                      </a:r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неуправляемо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Методика делает потери явными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626308"/>
                  </a:ext>
                </a:extLst>
              </a:tr>
              <a:tr h="3215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Предсказуемость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зависит от разработчика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зависит от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 </a:t>
                      </a:r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 </a:t>
                      </a:r>
                      <a:r>
                        <a:rPr lang="ru-RU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промпта</a:t>
                      </a:r>
                      <a:endParaRPr lang="ru-RU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Методика более управляемая и явная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474343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0E8C209-216E-4865-A7E9-05333501BA04}"/>
              </a:ext>
            </a:extLst>
          </p:cNvPr>
          <p:cNvSpPr/>
          <p:nvPr/>
        </p:nvSpPr>
        <p:spPr>
          <a:xfrm>
            <a:off x="331431" y="4778478"/>
            <a:ext cx="11546140" cy="109138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 показал, что функциональная эквивалентность сама по себе не гарантирует сохранения семантики безопасности. Ручная и LLM-трансляция могут дать работающий код, но не обеспечивают контролируемое сохранение инвариантов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публичного интерфейса. Предложенная методика обеспечивает проверяемое сохранение инвариантов L1, создание компенсаций для инвариантов L2 и фиксацию допустимых потерь инвариантов L3.</a:t>
            </a:r>
          </a:p>
        </p:txBody>
      </p:sp>
    </p:spTree>
    <p:extLst>
      <p:ext uri="{BB962C8B-B14F-4D97-AF65-F5344CB8AC3E}">
        <p14:creationId xmlns:p14="http://schemas.microsoft.com/office/powerpoint/2010/main" val="289638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60E49-C7BC-1876-5AB6-F8BF7C76E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4E3C6D-826E-E94D-5895-BFC9AA19C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Итог, достижение цели, ограничения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D896F01A-77D2-DCFE-B6C9-22A4B96752BF}"/>
              </a:ext>
            </a:extLst>
          </p:cNvPr>
          <p:cNvSpPr txBox="1">
            <a:spLocks/>
          </p:cNvSpPr>
          <p:nvPr/>
        </p:nvSpPr>
        <p:spPr>
          <a:xfrm>
            <a:off x="559573" y="1335654"/>
            <a:ext cx="5536428" cy="256993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отпечатка безопасности;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инвариантов безопасности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L1–L4;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 сохранения семантики безопасности;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Методика трансляции;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Симплификатор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исходного кода на C#;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Транслятор с языка C# на язык Python;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Экспериментальное сравнение с ручной трансляцией и трансляцией с помощью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Текст 6">
            <a:extLst>
              <a:ext uri="{FF2B5EF4-FFF2-40B4-BE49-F238E27FC236}">
                <a16:creationId xmlns:a16="http://schemas.microsoft.com/office/drawing/2014/main" id="{C8B75381-EE97-E22A-CE9D-76DDC77E6D1F}"/>
              </a:ext>
            </a:extLst>
          </p:cNvPr>
          <p:cNvSpPr txBox="1">
            <a:spLocks/>
          </p:cNvSpPr>
          <p:nvPr/>
        </p:nvSpPr>
        <p:spPr>
          <a:xfrm>
            <a:off x="559572" y="3893705"/>
            <a:ext cx="5536428" cy="21236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Доказано экспериментально: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Функциональность может сохраняться во всех подходах;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методика сохраняет инварианты безопасности L1 и компенсирует инварианты безопасности L2;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Потери инвариантов безопасности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являются не ошибкой, а ограничением целевого языка и должны фиксироваться заранее;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 позволяет заранее прогнозировать изменение защитных свойств.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B3A866CC-EF12-F069-CB04-8060024194C9}"/>
              </a:ext>
            </a:extLst>
          </p:cNvPr>
          <p:cNvSpPr txBox="1">
            <a:spLocks/>
          </p:cNvSpPr>
          <p:nvPr/>
        </p:nvSpPr>
        <p:spPr>
          <a:xfrm>
            <a:off x="559572" y="5940419"/>
            <a:ext cx="11158954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достигнута: 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предложена и экспериментально проверена методика, позволяющая управляемо контролировать сохранение инвариантов защиты при трансляции программного кода между языками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1F515F06-ABC6-9540-ABC1-FABEDADB9FEE}"/>
              </a:ext>
            </a:extLst>
          </p:cNvPr>
          <p:cNvSpPr txBox="1">
            <a:spLocks/>
          </p:cNvSpPr>
          <p:nvPr/>
        </p:nvSpPr>
        <p:spPr>
          <a:xfrm>
            <a:off x="6182098" y="1340764"/>
            <a:ext cx="5536428" cy="241604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rgbClr val="222A3F"/>
                </a:solidFill>
                <a:latin typeface="Montserrat" panose="000005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была выполнена для трансляции с языка C# на язык Python;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Отпечаток безопасности формировался вручную;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введена весовая модель значимости инвариантов;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Требуется расширение эксперимента на большее количество кодовых баз;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Необходима автоматизация выделения инвариантов через AST/SAST/CWE/CERT.</a:t>
            </a:r>
          </a:p>
        </p:txBody>
      </p:sp>
    </p:spTree>
    <p:extLst>
      <p:ext uri="{BB962C8B-B14F-4D97-AF65-F5344CB8AC3E}">
        <p14:creationId xmlns:p14="http://schemas.microsoft.com/office/powerpoint/2010/main" val="2884162614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6785</TotalTime>
  <Words>1839</Words>
  <Application>Microsoft Office PowerPoint</Application>
  <PresentationFormat>Широкоэкранный</PresentationFormat>
  <Paragraphs>305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Times New Roman</vt:lpstr>
      <vt:lpstr>Montserrat</vt:lpstr>
      <vt:lpstr>Calibri</vt:lpstr>
      <vt:lpstr>Arial</vt:lpstr>
      <vt:lpstr>Шаблон МИФИ</vt:lpstr>
      <vt:lpstr>Презентация PowerPoint</vt:lpstr>
      <vt:lpstr>Актуальность темы и проблематика исследования</vt:lpstr>
      <vt:lpstr>Цель</vt:lpstr>
      <vt:lpstr>Задачи</vt:lpstr>
      <vt:lpstr>Модель: инвариант безопасности и отпечаток безопасности</vt:lpstr>
      <vt:lpstr>Классификация L1–L4</vt:lpstr>
      <vt:lpstr>Формальная модель контроля семантики безопасности</vt:lpstr>
      <vt:lpstr>Условия сохранения семантики безопасности и функциональности</vt:lpstr>
      <vt:lpstr>Методика контролируемой трансляции</vt:lpstr>
      <vt:lpstr>Симплификация исходного кода</vt:lpstr>
      <vt:lpstr>Реализация прототипа для трансляции с языка C# на язык Python</vt:lpstr>
      <vt:lpstr>Эксперимент: что проверялось</vt:lpstr>
      <vt:lpstr>Результаты сравнения: чем методика лучше</vt:lpstr>
      <vt:lpstr>Итог, достижение цели, ограничения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std_string</cp:lastModifiedBy>
  <cp:revision>126</cp:revision>
  <dcterms:created xsi:type="dcterms:W3CDTF">2020-05-28T16:18:16Z</dcterms:created>
  <dcterms:modified xsi:type="dcterms:W3CDTF">2026-06-08T07:58:42Z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